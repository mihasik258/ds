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359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26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7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13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3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4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0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8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9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6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0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2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68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057521923003654" TargetMode="External"/><Relationship Id="rId2" Type="http://schemas.openxmlformats.org/officeDocument/2006/relationships/hyperlink" Target="https://www.mdpi.com/2227-9091/9/7/13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>
            <a:noAutofit/>
          </a:bodyPr>
          <a:lstStyle/>
          <a:p>
            <a:r>
              <a:rPr lang="ru-RU" sz="6600" dirty="0"/>
              <a:t>Кейс2</a:t>
            </a:r>
            <a:r>
              <a:rPr lang="en-US" sz="6600" dirty="0"/>
              <a:t>: </a:t>
            </a:r>
            <a:r>
              <a:rPr sz="6600" dirty="0" err="1"/>
              <a:t>Оценка</a:t>
            </a:r>
            <a:r>
              <a:rPr sz="6600" dirty="0"/>
              <a:t> </a:t>
            </a:r>
            <a:r>
              <a:rPr sz="6600" dirty="0" err="1"/>
              <a:t>кредитоспособности</a:t>
            </a:r>
            <a:r>
              <a:rPr sz="6600" dirty="0"/>
              <a:t> </a:t>
            </a:r>
            <a:r>
              <a:rPr sz="6600" dirty="0" err="1"/>
              <a:t>Традиционные</a:t>
            </a:r>
            <a:r>
              <a:rPr sz="6600" dirty="0"/>
              <a:t> и Big Data </a:t>
            </a:r>
            <a:r>
              <a:rPr sz="6600" dirty="0" err="1"/>
              <a:t>методы</a:t>
            </a:r>
            <a:endParaRPr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1688" y="5880652"/>
            <a:ext cx="6400800" cy="1752600"/>
          </a:xfrm>
        </p:spPr>
        <p:txBody>
          <a:bodyPr/>
          <a:lstStyle/>
          <a:p>
            <a:r>
              <a:rPr lang="ru-RU" dirty="0"/>
              <a:t>Б23-503 Тишин В. Д.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Проблемы традиционных методов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err="1"/>
              <a:t>Ограниченность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(</a:t>
            </a:r>
            <a:r>
              <a:rPr dirty="0" err="1"/>
              <a:t>доходы</a:t>
            </a:r>
            <a:r>
              <a:rPr dirty="0"/>
              <a:t>,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кредитования</a:t>
            </a:r>
            <a:r>
              <a:rPr dirty="0"/>
              <a:t> и т</a:t>
            </a:r>
            <a:r>
              <a:rPr lang="ru-RU" dirty="0"/>
              <a:t>.</a:t>
            </a:r>
            <a:r>
              <a:rPr dirty="0"/>
              <a:t>д)</a:t>
            </a:r>
            <a:endParaRPr lang="ru-RU" dirty="0"/>
          </a:p>
          <a:p>
            <a:endParaRPr dirty="0"/>
          </a:p>
          <a:p>
            <a:r>
              <a:rPr dirty="0" err="1"/>
              <a:t>Невозможность</a:t>
            </a:r>
            <a:r>
              <a:rPr dirty="0"/>
              <a:t> </a:t>
            </a:r>
            <a:r>
              <a:rPr dirty="0" err="1"/>
              <a:t>точно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данных</a:t>
            </a:r>
            <a:endParaRPr lang="ru-RU" dirty="0"/>
          </a:p>
          <a:p>
            <a:endParaRPr dirty="0"/>
          </a:p>
          <a:p>
            <a:r>
              <a:rPr dirty="0" err="1"/>
              <a:t>Долгое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заявок</a:t>
            </a:r>
            <a:endParaRPr dirty="0"/>
          </a:p>
          <a:p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712C8F-8CF7-1316-0D90-0BB21E2A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051" y="3700579"/>
            <a:ext cx="3737113" cy="23808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Использование Big Data в кредитовании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информации</a:t>
            </a:r>
            <a:endParaRPr lang="ru-RU" dirty="0"/>
          </a:p>
          <a:p>
            <a:endParaRPr dirty="0"/>
          </a:p>
          <a:p>
            <a:r>
              <a:rPr dirty="0" err="1"/>
              <a:t>Поведенческие</a:t>
            </a:r>
            <a:r>
              <a:rPr dirty="0"/>
              <a:t> </a:t>
            </a:r>
            <a:r>
              <a:rPr dirty="0" err="1"/>
              <a:t>данные</a:t>
            </a:r>
            <a:endParaRPr lang="ru-RU" dirty="0"/>
          </a:p>
          <a:p>
            <a:endParaRPr dirty="0"/>
          </a:p>
          <a:p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социальных</a:t>
            </a:r>
            <a:r>
              <a:rPr dirty="0"/>
              <a:t> </a:t>
            </a:r>
            <a:r>
              <a:rPr dirty="0" err="1"/>
              <a:t>сетей</a:t>
            </a:r>
            <a:endParaRPr lang="ru-RU" dirty="0"/>
          </a:p>
          <a:p>
            <a:endParaRPr dirty="0"/>
          </a:p>
          <a:p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покупок</a:t>
            </a:r>
            <a:r>
              <a:rPr dirty="0"/>
              <a:t> и </a:t>
            </a:r>
            <a:r>
              <a:rPr dirty="0" err="1"/>
              <a:t>онлайн-активности</a:t>
            </a:r>
            <a:endParaRPr lang="ru-RU" dirty="0"/>
          </a:p>
          <a:p>
            <a:endParaRPr dirty="0"/>
          </a:p>
          <a:p>
            <a:r>
              <a:rPr dirty="0" err="1"/>
              <a:t>Данные</a:t>
            </a:r>
            <a:r>
              <a:rPr dirty="0"/>
              <a:t> о </a:t>
            </a:r>
            <a:r>
              <a:rPr dirty="0" err="1"/>
              <a:t>мобильных</a:t>
            </a:r>
            <a:r>
              <a:rPr dirty="0"/>
              <a:t> </a:t>
            </a:r>
            <a:r>
              <a:rPr dirty="0" err="1"/>
              <a:t>приложениях</a:t>
            </a:r>
            <a:r>
              <a:rPr dirty="0"/>
              <a:t> и </a:t>
            </a:r>
            <a:r>
              <a:rPr dirty="0" err="1"/>
              <a:t>локации</a:t>
            </a:r>
            <a:endParaRPr dirty="0"/>
          </a:p>
          <a:p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F8138D-47D3-7C76-97E4-F58FC1871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78" y="2574235"/>
            <a:ext cx="3743739" cy="2640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Дополнительные источники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социальных</a:t>
            </a:r>
            <a:r>
              <a:rPr dirty="0"/>
              <a:t> </a:t>
            </a:r>
            <a:r>
              <a:rPr dirty="0" err="1"/>
              <a:t>сетей</a:t>
            </a:r>
            <a:endParaRPr lang="ru-RU" dirty="0"/>
          </a:p>
          <a:p>
            <a:endParaRPr dirty="0"/>
          </a:p>
          <a:p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онлайн-покупок</a:t>
            </a:r>
            <a:endParaRPr lang="ru-RU" dirty="0"/>
          </a:p>
          <a:p>
            <a:endParaRPr dirty="0"/>
          </a:p>
          <a:p>
            <a:r>
              <a:rPr dirty="0" err="1"/>
              <a:t>Мобильные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(</a:t>
            </a:r>
            <a:r>
              <a:rPr dirty="0" err="1"/>
              <a:t>геолокация</a:t>
            </a:r>
            <a:r>
              <a:rPr dirty="0"/>
              <a:t>, </a:t>
            </a:r>
            <a:r>
              <a:rPr dirty="0" err="1"/>
              <a:t>активность</a:t>
            </a:r>
            <a:r>
              <a:rPr dirty="0"/>
              <a:t> в </a:t>
            </a:r>
            <a:r>
              <a:rPr dirty="0" err="1"/>
              <a:t>приложениях</a:t>
            </a:r>
            <a:r>
              <a:rPr dirty="0"/>
              <a:t>)</a:t>
            </a:r>
            <a:endParaRPr lang="ru-RU" dirty="0"/>
          </a:p>
          <a:p>
            <a:endParaRPr dirty="0"/>
          </a:p>
          <a:p>
            <a:r>
              <a:rPr dirty="0" err="1"/>
              <a:t>Поведение</a:t>
            </a:r>
            <a:r>
              <a:rPr dirty="0"/>
              <a:t> в </a:t>
            </a:r>
            <a:r>
              <a:rPr dirty="0" err="1"/>
              <a:t>интернете</a:t>
            </a:r>
            <a:r>
              <a:rPr dirty="0"/>
              <a:t> (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запросы</a:t>
            </a:r>
            <a:r>
              <a:rPr dirty="0"/>
              <a:t>, </a:t>
            </a:r>
            <a:r>
              <a:rPr dirty="0" err="1"/>
              <a:t>клики</a:t>
            </a:r>
            <a:r>
              <a:rPr dirty="0"/>
              <a:t>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анализа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err="1"/>
              <a:t>Машинное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прогнозирования</a:t>
            </a:r>
            <a:r>
              <a:rPr dirty="0"/>
              <a:t> </a:t>
            </a:r>
            <a:r>
              <a:rPr dirty="0" err="1"/>
              <a:t>рисков</a:t>
            </a:r>
            <a:endParaRPr lang="ru-RU" dirty="0"/>
          </a:p>
          <a:p>
            <a:endParaRPr dirty="0"/>
          </a:p>
          <a:p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определения</a:t>
            </a:r>
            <a:r>
              <a:rPr dirty="0"/>
              <a:t> </a:t>
            </a:r>
            <a:r>
              <a:rPr dirty="0" err="1"/>
              <a:t>финансовых</a:t>
            </a:r>
            <a:r>
              <a:rPr dirty="0"/>
              <a:t> </a:t>
            </a:r>
            <a:r>
              <a:rPr dirty="0" err="1"/>
              <a:t>привычек</a:t>
            </a:r>
            <a:endParaRPr lang="ru-RU" dirty="0"/>
          </a:p>
          <a:p>
            <a:endParaRPr dirty="0"/>
          </a:p>
          <a:p>
            <a:r>
              <a:rPr dirty="0" err="1"/>
              <a:t>Поведенческий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определения</a:t>
            </a:r>
            <a:r>
              <a:rPr dirty="0"/>
              <a:t> </a:t>
            </a:r>
            <a:r>
              <a:rPr dirty="0" err="1"/>
              <a:t>кредитоспособности</a:t>
            </a:r>
            <a:endParaRPr lang="ru-RU" dirty="0"/>
          </a:p>
          <a:p>
            <a:endParaRPr dirty="0"/>
          </a:p>
          <a:p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текстовых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заявок</a:t>
            </a:r>
            <a:r>
              <a:rPr dirty="0"/>
              <a:t>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невыплаты</a:t>
            </a:r>
            <a:r>
              <a:rPr dirty="0"/>
              <a:t> </a:t>
            </a:r>
            <a:r>
              <a:rPr dirty="0" err="1"/>
              <a:t>кредита</a:t>
            </a:r>
            <a:endParaRPr lang="ru-RU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Ускорение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принятия</a:t>
            </a:r>
            <a:r>
              <a:rPr dirty="0"/>
              <a:t> </a:t>
            </a:r>
            <a:r>
              <a:rPr dirty="0" err="1"/>
              <a:t>решения</a:t>
            </a:r>
            <a:endParaRPr lang="ru-RU" dirty="0"/>
          </a:p>
          <a:p>
            <a:endParaRPr dirty="0"/>
          </a:p>
          <a:p>
            <a:r>
              <a:rPr dirty="0" err="1"/>
              <a:t>Прогнозирование</a:t>
            </a:r>
            <a:r>
              <a:rPr dirty="0"/>
              <a:t> </a:t>
            </a:r>
            <a:r>
              <a:rPr dirty="0" err="1"/>
              <a:t>финансовых</a:t>
            </a:r>
            <a:r>
              <a:rPr dirty="0"/>
              <a:t> </a:t>
            </a:r>
            <a:r>
              <a:rPr dirty="0" err="1"/>
              <a:t>привычек</a:t>
            </a:r>
            <a:r>
              <a:rPr dirty="0"/>
              <a:t> </a:t>
            </a:r>
            <a:r>
              <a:rPr dirty="0" err="1"/>
              <a:t>клиента</a:t>
            </a:r>
            <a:endParaRPr lang="ru-RU" dirty="0"/>
          </a:p>
          <a:p>
            <a:endParaRPr dirty="0"/>
          </a:p>
          <a:p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точная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финансового</a:t>
            </a:r>
            <a:r>
              <a:rPr dirty="0"/>
              <a:t> </a:t>
            </a:r>
            <a:r>
              <a:rPr dirty="0" err="1"/>
              <a:t>состояния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Примеры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https://www.mdpi.com/2227-9091/9/7/132</a:t>
            </a:r>
            <a:r>
              <a:rPr lang="en-US" dirty="0"/>
              <a:t> (</a:t>
            </a:r>
            <a:r>
              <a:rPr lang="ru-RU" dirty="0"/>
              <a:t>Кредитный рейтинг в Польше и повышение эффективности</a:t>
            </a:r>
            <a:r>
              <a:rPr lang="en-US" dirty="0"/>
              <a:t>)</a:t>
            </a:r>
            <a:endParaRPr lang="ru-RU" dirty="0"/>
          </a:p>
          <a:p>
            <a:r>
              <a:rPr lang="en-US" b="0" i="0" u="none" strike="noStrike" dirty="0">
                <a:solidFill>
                  <a:srgbClr val="0056B3"/>
                </a:solidFill>
                <a:effectLst/>
                <a:latin typeface="Roboto" panose="02000000000000000000" pitchFamily="2" charset="0"/>
                <a:hlinkClick r:id="rId3" tooltip="https://www.sciencedirect.com/science/article/abs/pii/S1057521923003654"/>
              </a:rPr>
              <a:t>https://www.sciencedirect.com/science/article/abs/pii/S1057521923003654</a:t>
            </a:r>
            <a:r>
              <a:rPr lang="ru-RU" b="0" i="0" u="none" strike="noStrike" dirty="0">
                <a:solidFill>
                  <a:srgbClr val="0056B3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r>
              <a:rPr lang="ru-RU" b="0" i="0" u="none" strike="noStrike" dirty="0">
                <a:solidFill>
                  <a:srgbClr val="0056B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(использование новых способов расчета рисков, </a:t>
            </a:r>
            <a:r>
              <a:rPr lang="en-US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Fintech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endParaRPr dirty="0"/>
          </a:p>
          <a:p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469543-0857-69B5-1B6C-AE0B5CB87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63" y="1974574"/>
            <a:ext cx="3444605" cy="9572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8363A8-97F1-6407-814F-4C37F22BE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667" y="3287198"/>
            <a:ext cx="2449374" cy="6389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Пример модели анализа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err="1"/>
              <a:t>Прогнозная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машинного</a:t>
            </a:r>
            <a:r>
              <a:rPr dirty="0"/>
              <a:t> </a:t>
            </a:r>
            <a:r>
              <a:rPr dirty="0" err="1"/>
              <a:t>обучения</a:t>
            </a:r>
            <a:endParaRPr lang="ru-RU" dirty="0"/>
          </a:p>
          <a:p>
            <a:endParaRPr dirty="0"/>
          </a:p>
          <a:p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множества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построения</a:t>
            </a:r>
            <a:r>
              <a:rPr dirty="0"/>
              <a:t> </a:t>
            </a:r>
            <a:r>
              <a:rPr dirty="0" err="1"/>
              <a:t>точной</a:t>
            </a:r>
            <a:r>
              <a:rPr dirty="0"/>
              <a:t> </a:t>
            </a:r>
            <a:r>
              <a:rPr dirty="0" err="1"/>
              <a:t>модели</a:t>
            </a:r>
            <a:endParaRPr lang="ru-RU" dirty="0"/>
          </a:p>
          <a:p>
            <a:endParaRPr dirty="0"/>
          </a:p>
          <a:p>
            <a:r>
              <a:rPr dirty="0" err="1"/>
              <a:t>Алгоритмы</a:t>
            </a:r>
            <a:r>
              <a:rPr dirty="0"/>
              <a:t> </a:t>
            </a:r>
            <a:r>
              <a:rPr dirty="0" err="1"/>
              <a:t>прогнозирования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 </a:t>
            </a:r>
            <a:r>
              <a:rPr dirty="0" err="1"/>
              <a:t>невыплаты</a:t>
            </a:r>
            <a:endParaRPr lang="ru-RU" dirty="0"/>
          </a:p>
          <a:p>
            <a:endParaRPr dirty="0"/>
          </a:p>
          <a:p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точных</a:t>
            </a:r>
            <a:r>
              <a:rPr dirty="0"/>
              <a:t> </a:t>
            </a:r>
            <a:r>
              <a:rPr dirty="0" err="1"/>
              <a:t>предсказаний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Заключение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 err="1"/>
              <a:t>Внедрение</a:t>
            </a:r>
            <a:r>
              <a:rPr dirty="0"/>
              <a:t> Big Data в </a:t>
            </a:r>
            <a:r>
              <a:rPr dirty="0" err="1"/>
              <a:t>кредитование</a:t>
            </a:r>
            <a:r>
              <a:rPr dirty="0"/>
              <a:t> </a:t>
            </a:r>
            <a:r>
              <a:rPr lang="ru-RU" dirty="0"/>
              <a:t>доказанно повышает эффективность банков</a:t>
            </a:r>
          </a:p>
          <a:p>
            <a:endParaRPr dirty="0"/>
          </a:p>
          <a:p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рисков</a:t>
            </a:r>
            <a:r>
              <a:rPr dirty="0"/>
              <a:t> и </a:t>
            </a:r>
            <a:r>
              <a:rPr dirty="0" err="1"/>
              <a:t>ускорение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lang="ru-RU" dirty="0"/>
              <a:t> выдачи кредитов</a:t>
            </a:r>
          </a:p>
          <a:p>
            <a:endParaRPr dirty="0"/>
          </a:p>
          <a:p>
            <a:r>
              <a:rPr dirty="0" err="1"/>
              <a:t>Рекомендуется</a:t>
            </a:r>
            <a:r>
              <a:rPr dirty="0"/>
              <a:t> </a:t>
            </a:r>
            <a:r>
              <a:rPr dirty="0" err="1"/>
              <a:t>активно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lang="ru-RU" dirty="0"/>
              <a:t> в современных реалиях</a:t>
            </a:r>
          </a:p>
          <a:p>
            <a:endParaRPr lang="ru-RU" dirty="0"/>
          </a:p>
          <a:p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машинное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lang="ru-RU" dirty="0"/>
              <a:t> помогают в повышении эффективности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253</Words>
  <Application>Microsoft Office PowerPoint</Application>
  <PresentationFormat>Экран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Roboto</vt:lpstr>
      <vt:lpstr>Ретро</vt:lpstr>
      <vt:lpstr>Кейс2: Оценка кредитоспособности Традиционные и Big Data методы</vt:lpstr>
      <vt:lpstr>Проблемы традиционных методов</vt:lpstr>
      <vt:lpstr>Использование Big Data в кредитовании</vt:lpstr>
      <vt:lpstr>Дополнительные источники данных</vt:lpstr>
      <vt:lpstr>Методы анализа Big Data</vt:lpstr>
      <vt:lpstr>Преимущества Big Data</vt:lpstr>
      <vt:lpstr>Пример модели анализа данных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Great dane</cp:lastModifiedBy>
  <cp:revision>2</cp:revision>
  <dcterms:created xsi:type="dcterms:W3CDTF">2013-01-27T09:14:16Z</dcterms:created>
  <dcterms:modified xsi:type="dcterms:W3CDTF">2025-12-27T15:39:01Z</dcterms:modified>
  <cp:category/>
</cp:coreProperties>
</file>