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3"/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3716000" cx="2438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f822efa3f_2_83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7f822efa3f_2_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Источник/связка текста: , . Пояснить, что важно задать период (мес./квартал) и корректно считать 'потерянных' — кто считается ушедшим (закрытие счета, деактивация, отсутствие активности).</a:t>
            </a:r>
            <a:endParaRPr/>
          </a:p>
        </p:txBody>
      </p:sp>
      <p:sp>
        <p:nvSpPr>
          <p:cNvPr id="167" name="Google Shape;167;g37f822efa3f_2_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f822efa3f_2_97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7f822efa3f_2_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Источник: , . Рекомендуется комбинировать количественные признаки (логины, транзакции) и текстовый анализ обращений.</a:t>
            </a:r>
            <a:endParaRPr/>
          </a:p>
        </p:txBody>
      </p:sp>
      <p:sp>
        <p:nvSpPr>
          <p:cNvPr id="175" name="Google Shape;175;g37f822efa3f_2_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583fc7c7f_0_9:notes"/>
          <p:cNvSpPr/>
          <p:nvPr>
            <p:ph idx="2" type="sldImg"/>
          </p:nvPr>
        </p:nvSpPr>
        <p:spPr>
          <a:xfrm>
            <a:off x="-375" y="0"/>
            <a:ext cx="30009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6583fc7c7f_0_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Источник: , . Рекомендуется комбинировать количественные признаки (логины, транзакции) и текстовый анализ обращений.</a:t>
            </a:r>
            <a:endParaRPr/>
          </a:p>
        </p:txBody>
      </p:sp>
      <p:sp>
        <p:nvSpPr>
          <p:cNvPr id="183" name="Google Shape;183;g36583fc7c7f_0_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f822efa3f_2_90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37f822efa3f_2_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Источники: , , . Важно: показывать абсолютную выгоду (NPV) для сегментов клиентов, а не только % изменений.</a:t>
            </a:r>
            <a:endParaRPr/>
          </a:p>
        </p:txBody>
      </p:sp>
      <p:sp>
        <p:nvSpPr>
          <p:cNvPr id="191" name="Google Shape;191;g37f822efa3f_2_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f822efa3f_2_104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7f822efa3f_2_1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Визуализация: heatmap показывает интенсивность оттока по когортам (темнее = выше отток). Источник-пример: .</a:t>
            </a:r>
            <a:endParaRPr/>
          </a:p>
        </p:txBody>
      </p:sp>
      <p:sp>
        <p:nvSpPr>
          <p:cNvPr id="199" name="Google Shape;199;g37f822efa3f_2_1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f822efa3f_2_113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g37f822efa3f_2_1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Источник: , . Пояснить: DWH нужен для корректных моделей и персонализации; отдельно указать инструменты (Snowflake/Databricks, Kafka, dbt, Airflow).</a:t>
            </a:r>
            <a:endParaRPr/>
          </a:p>
        </p:txBody>
      </p:sp>
      <p:sp>
        <p:nvSpPr>
          <p:cNvPr id="209" name="Google Shape;209;g37f822efa3f_2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f822efa3f_2_120:notes"/>
          <p:cNvSpPr/>
          <p:nvPr>
            <p:ph idx="2" type="sldImg"/>
          </p:nvPr>
        </p:nvSpPr>
        <p:spPr>
          <a:xfrm>
            <a:off x="-375" y="0"/>
            <a:ext cx="3000751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g37f822efa3f_2_1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План: детализировать предложения для high-CLV сегментов. Использовать контрольные группы для оценки causal-эффекта.</a:t>
            </a:r>
            <a:endParaRPr/>
          </a:p>
        </p:txBody>
      </p:sp>
      <p:sp>
        <p:nvSpPr>
          <p:cNvPr id="217" name="Google Shape;217;g37f822efa3f_2_1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6583fc7c7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6583fc7c7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body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0"/>
              <a:buFont typeface="Avenir"/>
              <a:buNone/>
              <a:defRPr sz="2940">
                <a:latin typeface="Avenir"/>
                <a:ea typeface="Avenir"/>
                <a:cs typeface="Avenir"/>
                <a:sym typeface="Avenir"/>
              </a:defRPr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0"/>
              <a:buFont typeface="Arial"/>
              <a:buNone/>
              <a:defRPr sz="12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venir"/>
              <a:buNone/>
              <a:defRPr b="1" sz="600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venir"/>
              <a:buNone/>
              <a:defRPr b="1" sz="6000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venir"/>
              <a:buNone/>
              <a:defRPr b="1" sz="6000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venir"/>
              <a:buNone/>
              <a:defRPr b="1" sz="6000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venir"/>
              <a:buNone/>
              <a:defRPr b="1" sz="6000">
                <a:latin typeface="Avenir"/>
                <a:ea typeface="Avenir"/>
                <a:cs typeface="Avenir"/>
                <a:sym typeface="Avenir"/>
              </a:defRPr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0"/>
              <a:buFont typeface="Arial"/>
              <a:buNone/>
              <a:defRPr sz="128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>
  <p:cSld name="Только заголовок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24"/>
              <a:buFont typeface="Avenir"/>
              <a:buNone/>
              <a:defRPr b="1" sz="4224">
                <a:latin typeface="Avenir"/>
                <a:ea typeface="Avenir"/>
                <a:cs typeface="Avenir"/>
                <a:sym typeface="Avenir"/>
              </a:defRPr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>
  <p:cSld name="Цитата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idx="1" type="body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24"/>
              <a:buFont typeface="Avenir"/>
              <a:buNone/>
              <a:defRPr b="1" sz="4224">
                <a:latin typeface="Avenir"/>
                <a:ea typeface="Avenir"/>
                <a:cs typeface="Avenir"/>
                <a:sym typeface="Avenir"/>
              </a:defRPr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sz="8400"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 фото">
  <p:cSld name="Заголовок и фото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>
            <p:ph idx="2" type="pic"/>
          </p:nvPr>
        </p:nvSpPr>
        <p:spPr>
          <a:xfrm>
            <a:off x="0" y="-1270000"/>
            <a:ext cx="24384000" cy="162560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7"/>
          <p:cNvSpPr txBox="1"/>
          <p:nvPr>
            <p:ph type="title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0"/>
              <a:buFont typeface="Arial"/>
              <a:buNone/>
              <a:defRPr sz="12800">
                <a:solidFill>
                  <a:srgbClr val="FFFFFF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venir"/>
              <a:buNone/>
              <a:defRPr b="1" sz="6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venir"/>
              <a:buNone/>
              <a:defRPr b="1" sz="6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venir"/>
              <a:buNone/>
              <a:defRPr b="1" sz="6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venir"/>
              <a:buNone/>
              <a:defRPr b="1" sz="6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venir"/>
              <a:buNone/>
              <a:defRPr b="1" sz="6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3" type="body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40"/>
              <a:buFont typeface="Avenir"/>
              <a:buNone/>
              <a:defRPr sz="294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  <a:defRPr>
                <a:solidFill>
                  <a:srgbClr val="FFFFFF"/>
                </a:solidFill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  <a:defRPr>
                <a:solidFill>
                  <a:srgbClr val="FFFFFF"/>
                </a:solidFill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  <a:defRPr>
                <a:solidFill>
                  <a:srgbClr val="FFFFFF"/>
                </a:solidFill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  <a:defRPr>
                <a:solidFill>
                  <a:srgbClr val="FFFFFF"/>
                </a:solidFill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  <a:defRPr>
                <a:solidFill>
                  <a:srgbClr val="FFFFFF"/>
                </a:solidFill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  <a:defRPr>
                <a:solidFill>
                  <a:srgbClr val="FFFFFF"/>
                </a:solidFill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  <a:defRPr>
                <a:solidFill>
                  <a:srgbClr val="FFFFFF"/>
                </a:solidFill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  <a:defRPr>
                <a:solidFill>
                  <a:srgbClr val="FFFFFF"/>
                </a:solidFill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venir"/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5E5E5E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 фото (вариант)">
  <p:cSld name="Заголовок и фото (вариант)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8"/>
          <p:cNvSpPr/>
          <p:nvPr>
            <p:ph idx="2" type="pic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  <a:defRPr b="1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  <a:defRPr b="1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  <a:defRPr b="1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  <a:defRPr b="1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  <a:defRPr b="1">
                <a:latin typeface="Avenir"/>
                <a:ea typeface="Avenir"/>
                <a:cs typeface="Avenir"/>
                <a:sym typeface="Avenir"/>
              </a:defRPr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24"/>
              <a:buFont typeface="Avenir"/>
              <a:buNone/>
              <a:defRPr b="1" sz="4224">
                <a:latin typeface="Avenir"/>
                <a:ea typeface="Avenir"/>
                <a:cs typeface="Avenir"/>
                <a:sym typeface="Avenir"/>
              </a:defRPr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11"/>
          <p:cNvSpPr/>
          <p:nvPr>
            <p:ph idx="2" type="pic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24"/>
              <a:buFont typeface="Avenir"/>
              <a:buNone/>
              <a:defRPr b="1" sz="4224">
                <a:latin typeface="Avenir"/>
                <a:ea typeface="Avenir"/>
                <a:cs typeface="Avenir"/>
                <a:sym typeface="Avenir"/>
              </a:defRPr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3" type="body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естка дня">
  <p:cSld name="Повестка дня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  <a:defRPr sz="6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  <a:defRPr sz="6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  <a:defRPr sz="6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  <a:defRPr sz="6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  <a:defRPr sz="6800"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2" type="body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24"/>
              <a:buFont typeface="Avenir"/>
              <a:buNone/>
              <a:defRPr b="1" sz="4224">
                <a:latin typeface="Avenir"/>
                <a:ea typeface="Avenir"/>
                <a:cs typeface="Avenir"/>
                <a:sym typeface="Avenir"/>
              </a:defRPr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формационное сообщение">
  <p:cSld name="Информационное сообщение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0"/>
              <a:buFont typeface="Arial"/>
              <a:buNone/>
              <a:defRPr sz="12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0"/>
              <a:buFont typeface="Arial"/>
              <a:buNone/>
              <a:defRPr sz="12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0"/>
              <a:buFont typeface="Arial"/>
              <a:buNone/>
              <a:defRPr sz="12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0"/>
              <a:buFont typeface="Arial"/>
              <a:buNone/>
              <a:defRPr sz="12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0"/>
              <a:buFont typeface="Arial"/>
              <a:buNone/>
              <a:defRPr sz="12800"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факт">
  <p:cSld name="Важный факт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24"/>
              <a:buFont typeface="Avenir"/>
              <a:buNone/>
              <a:defRPr b="1" sz="4224">
                <a:latin typeface="Avenir"/>
                <a:ea typeface="Avenir"/>
                <a:cs typeface="Avenir"/>
                <a:sym typeface="Avenir"/>
              </a:defRPr>
            </a:lvl1pPr>
            <a:lvl2pPr indent="-40005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00"/>
              <a:buFont typeface="Arial"/>
              <a:buNone/>
              <a:defRPr sz="2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00"/>
              <a:buFont typeface="Arial"/>
              <a:buNone/>
              <a:defRPr sz="224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00"/>
              <a:buFont typeface="Arial"/>
              <a:buNone/>
              <a:defRPr sz="224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00"/>
              <a:buFont typeface="Arial"/>
              <a:buNone/>
              <a:defRPr sz="22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00"/>
              <a:buFont typeface="Arial"/>
              <a:buNone/>
              <a:defRPr sz="22400"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6pPr>
            <a:lvl7pPr indent="-40005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7pPr>
            <a:lvl8pPr indent="-40005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8pPr>
            <a:lvl9pPr indent="-40005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7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(3 шт.)">
  <p:cSld name="Фото (3 шт.)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>
            <p:ph idx="2" type="pic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5"/>
          <p:cNvSpPr/>
          <p:nvPr>
            <p:ph idx="3" type="pic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/>
          <p:nvPr>
            <p:ph idx="4" type="pic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>
  <p:cSld name="Фото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>
            <p:ph idx="2" type="pic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sz="2000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ctrTitle"/>
          </p:nvPr>
        </p:nvSpPr>
        <p:spPr>
          <a:xfrm>
            <a:off x="1371943" y="4260850"/>
            <a:ext cx="15548690" cy="294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subTitle"/>
          </p:nvPr>
        </p:nvSpPr>
        <p:spPr>
          <a:xfrm>
            <a:off x="2743886" y="7772400"/>
            <a:ext cx="12804803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lvl="0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5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914629" y="549276"/>
            <a:ext cx="1646331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914629" y="3200400"/>
            <a:ext cx="16463319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457200" lvl="0" marL="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1444987" y="8813800"/>
            <a:ext cx="15548690" cy="2724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  <a:defRPr b="1" sz="8000" cap="none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1444987" y="5813426"/>
            <a:ext cx="15548690" cy="30003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914629" y="549276"/>
            <a:ext cx="1646331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914629" y="3200400"/>
            <a:ext cx="8079221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584200" lvl="0" marL="4572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1pPr>
            <a:lvl2pPr indent="-533400" lvl="1" marL="914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–"/>
              <a:defRPr sz="4800"/>
            </a:lvl2pPr>
            <a:lvl3pPr indent="-482600" lvl="2" marL="1371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57200" lvl="3" marL="1828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9298726" y="3200400"/>
            <a:ext cx="8079221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584200" lvl="0" marL="4572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1pPr>
            <a:lvl2pPr indent="-533400" lvl="1" marL="9144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–"/>
              <a:defRPr sz="4800"/>
            </a:lvl2pPr>
            <a:lvl3pPr indent="-482600" lvl="2" marL="1371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57200" lvl="3" marL="1828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 sz="3600"/>
            </a:lvl4pPr>
            <a:lvl5pPr indent="-457200" lvl="4" marL="22860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 sz="3600"/>
            </a:lvl5pPr>
            <a:lvl6pPr indent="-457200" lvl="5" marL="2743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6pPr>
            <a:lvl7pPr indent="-457200" lvl="6" marL="3200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7pPr>
            <a:lvl8pPr indent="-457200" lvl="7" marL="3657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8pPr>
            <a:lvl9pPr indent="-457200" lvl="8" marL="4114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914629" y="549276"/>
            <a:ext cx="1646331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914629" y="3070226"/>
            <a:ext cx="8082398" cy="12795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110" name="Google Shape;110;p23"/>
          <p:cNvSpPr txBox="1"/>
          <p:nvPr>
            <p:ph idx="2" type="body"/>
          </p:nvPr>
        </p:nvSpPr>
        <p:spPr>
          <a:xfrm>
            <a:off x="914629" y="4349750"/>
            <a:ext cx="8082398" cy="79025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5334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826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–"/>
              <a:defRPr sz="4000"/>
            </a:lvl2pPr>
            <a:lvl3pPr indent="-457200" lvl="2" marL="1371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111" name="Google Shape;111;p23"/>
          <p:cNvSpPr txBox="1"/>
          <p:nvPr>
            <p:ph idx="3" type="body"/>
          </p:nvPr>
        </p:nvSpPr>
        <p:spPr>
          <a:xfrm>
            <a:off x="9292375" y="3070226"/>
            <a:ext cx="8085573" cy="12795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2pPr>
            <a:lvl3pPr indent="-228600" lvl="2" marL="1371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8pPr>
            <a:lvl9pPr indent="-22860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9pPr>
          </a:lstStyle>
          <a:p/>
        </p:txBody>
      </p:sp>
      <p:sp>
        <p:nvSpPr>
          <p:cNvPr id="112" name="Google Shape;112;p23"/>
          <p:cNvSpPr txBox="1"/>
          <p:nvPr>
            <p:ph idx="4" type="body"/>
          </p:nvPr>
        </p:nvSpPr>
        <p:spPr>
          <a:xfrm>
            <a:off x="9292375" y="4349750"/>
            <a:ext cx="8085573" cy="79025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533400" lvl="0" marL="4572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indent="-482600" lvl="1" marL="914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–"/>
              <a:defRPr sz="4000"/>
            </a:lvl2pPr>
            <a:lvl3pPr indent="-457200" lvl="2" marL="1371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indent="-43180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4pPr>
            <a:lvl5pPr indent="-43180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»"/>
              <a:defRPr sz="3200"/>
            </a:lvl5pPr>
            <a:lvl6pPr indent="-431800" lvl="5" marL="2743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6pPr>
            <a:lvl7pPr indent="-431800" lvl="6" marL="3200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7pPr>
            <a:lvl8pPr indent="-431800" lvl="7" marL="3657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8pPr>
            <a:lvl9pPr indent="-431800" lvl="8" marL="4114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9pPr>
          </a:lstStyle>
          <a:p/>
        </p:txBody>
      </p:sp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914629" y="549276"/>
            <a:ext cx="1646331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914629" y="546100"/>
            <a:ext cx="6018132" cy="23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7151889" y="546100"/>
            <a:ext cx="10226058" cy="117062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635000" lvl="0" marL="4572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indent="-584200" lvl="1" marL="91440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600"/>
              <a:buChar char="–"/>
              <a:defRPr sz="5600"/>
            </a:lvl2pPr>
            <a:lvl3pPr indent="-533400" lvl="2" marL="137160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indent="-482600" lvl="3" marL="18288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–"/>
              <a:defRPr sz="4000"/>
            </a:lvl4pPr>
            <a:lvl5pPr indent="-482600" lvl="4" marL="22860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»"/>
              <a:defRPr sz="4000"/>
            </a:lvl5pPr>
            <a:lvl6pPr indent="-482600" lvl="5" marL="2743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indent="-482600" lvl="6" marL="32004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indent="-482600" lvl="7" marL="36576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indent="-482600" lvl="8" marL="41148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/>
        </p:txBody>
      </p:sp>
      <p:sp>
        <p:nvSpPr>
          <p:cNvPr id="124" name="Google Shape;124;p25"/>
          <p:cNvSpPr txBox="1"/>
          <p:nvPr>
            <p:ph idx="2" type="body"/>
          </p:nvPr>
        </p:nvSpPr>
        <p:spPr>
          <a:xfrm>
            <a:off x="914629" y="2870200"/>
            <a:ext cx="6018132" cy="93821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125" name="Google Shape;125;p25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585473" y="9601200"/>
            <a:ext cx="10975546" cy="113347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2875" spcFirstLastPara="1" rIns="18287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6"/>
          <p:cNvSpPr/>
          <p:nvPr>
            <p:ph idx="2" type="pic"/>
          </p:nvPr>
        </p:nvSpPr>
        <p:spPr>
          <a:xfrm>
            <a:off x="3585473" y="1225550"/>
            <a:ext cx="10975546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585473" y="10734676"/>
            <a:ext cx="10975546" cy="16097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9pPr>
          </a:lstStyle>
          <a:p/>
        </p:txBody>
      </p:sp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914629" y="549276"/>
            <a:ext cx="1646331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 rot="5400000">
            <a:off x="4620325" y="-505296"/>
            <a:ext cx="9051926" cy="164633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457200" lvl="0" marL="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 rot="5400000">
            <a:off x="9468508" y="4342886"/>
            <a:ext cx="11703050" cy="411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 rot="5400000">
            <a:off x="1084410" y="379495"/>
            <a:ext cx="11703050" cy="120426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457200" lvl="0" marL="457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b="0" i="0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b="0" i="0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b="0" i="0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b="0" i="0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b="0" i="0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b="0" i="0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b="0" i="0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b="0" i="0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  <a:defRPr b="0" i="0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647700" lvl="0" marL="457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47700" lvl="1" marL="914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47700" lvl="2" marL="1371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647700" lvl="3" marL="1828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647700" lvl="4" marL="22860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647700" lvl="5" marL="2743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647700" lvl="6" marL="3200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647700" lvl="7" marL="3657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647700" lvl="8" marL="4114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Char char="•"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b="0" i="0" sz="2000" u="none" cap="none" strike="noStrike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b="0" i="0" sz="2000" u="none" cap="none" strike="noStrike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b="0" i="0" sz="2000" u="none" cap="none" strike="noStrike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b="0" i="0" sz="2000" u="none" cap="none" strike="noStrike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b="0" i="0" sz="2000" u="none" cap="none" strike="noStrike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b="0" i="0" sz="2000" u="none" cap="none" strike="noStrike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b="0" i="0" sz="2000" u="none" cap="none" strike="noStrike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b="0" i="0" sz="2000" u="none" cap="none" strike="noStrike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000"/>
              <a:buFont typeface="Avenir"/>
              <a:buNone/>
              <a:defRPr b="0" i="0" sz="2000" u="none" cap="none" strike="noStrike">
                <a:solidFill>
                  <a:srgbClr val="5E5E5E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914629" y="549276"/>
            <a:ext cx="16463319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b="0" i="0" sz="8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914629" y="3200400"/>
            <a:ext cx="16463319" cy="90519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635000" lvl="0" marL="457200" marR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b="0" i="0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84200" lvl="1" marL="914400" marR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–"/>
              <a:defRPr b="0" i="0" sz="5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334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82600" lvl="3" marL="18288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–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82600" lvl="4" marL="22860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»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82600" lvl="5" marL="2743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82600" lvl="6" marL="3200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82600" lvl="7" marL="36576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82600" lvl="8" marL="41148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914629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6249964" y="12712700"/>
            <a:ext cx="5792649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13109680" y="12712700"/>
            <a:ext cx="42682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idx="4294967295" type="ctrTitle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64"/>
              <a:buFont typeface="Arial"/>
              <a:buNone/>
            </a:pPr>
            <a:r>
              <a:rPr b="0" i="0" lang="en-US" sz="1126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Удержание клиентов и повышение NPV — Yoyodyne Bank</a:t>
            </a:r>
            <a:endParaRPr b="0" i="0" sz="10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9"/>
          <p:cNvSpPr txBox="1"/>
          <p:nvPr>
            <p:ph idx="4294967295" type="subTitle"/>
          </p:nvPr>
        </p:nvSpPr>
        <p:spPr>
          <a:xfrm>
            <a:off x="1219200" y="8491729"/>
            <a:ext cx="21945600" cy="22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venir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Мини-кейс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0" i="0" lang="en-US" sz="8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Ключевые метрики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1219200" y="2384648"/>
            <a:ext cx="22485298" cy="1056262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lang="en-US" sz="4400"/>
              <a:t>База клиентов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lang="en-US" sz="4400"/>
              <a:t>100,000</a:t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lang="en-US" sz="4400"/>
              <a:t>Текущий отток (мес.)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lang="en-US" sz="4400"/>
              <a:t>5.0 %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lang="en-US" sz="4400"/>
              <a:t>Ср. доход / клиент / мес.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lang="en-US" sz="4400"/>
              <a:t>а€150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lang="en-US" sz="4400"/>
              <a:t>Цель кампании</a:t>
            </a:r>
            <a:endParaRPr sz="1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venir"/>
              <a:buNone/>
            </a:pPr>
            <a:r>
              <a:rPr lang="en-US" sz="4400"/>
              <a:t>Снизить отток на ≥5%-пунктов</a:t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venir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venir"/>
              <a:buNone/>
            </a:pPr>
            <a:r>
              <a:t/>
            </a:r>
            <a:endParaRPr sz="1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venir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venir"/>
              <a:buNone/>
            </a:pPr>
            <a:r>
              <a:t/>
            </a:r>
            <a:endParaRPr sz="1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venir"/>
              <a:buNone/>
            </a:pPr>
            <a:r>
              <a:t/>
            </a:r>
            <a:endParaRPr sz="12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venir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" id="163" name="Google Shape;1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7949" y="-178846"/>
            <a:ext cx="25019898" cy="14073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/>
          <p:nvPr/>
        </p:nvSpPr>
        <p:spPr>
          <a:xfrm>
            <a:off x="1097555" y="1097280"/>
            <a:ext cx="22188895" cy="11521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2"/>
          <p:cNvSpPr/>
          <p:nvPr/>
        </p:nvSpPr>
        <p:spPr>
          <a:xfrm>
            <a:off x="1463406" y="1463040"/>
            <a:ext cx="14634061" cy="1097280"/>
          </a:xfrm>
          <a:prstGeom prst="rect">
            <a:avLst/>
          </a:prstGeom>
          <a:solidFill>
            <a:srgbClr val="F2782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Понимание оттока (убыль)</a:t>
            </a:r>
            <a:endParaRPr sz="2800"/>
          </a:p>
        </p:txBody>
      </p:sp>
      <p:sp>
        <p:nvSpPr>
          <p:cNvPr id="171" name="Google Shape;171;p32"/>
          <p:cNvSpPr txBox="1"/>
          <p:nvPr/>
        </p:nvSpPr>
        <p:spPr>
          <a:xfrm>
            <a:off x="1829258" y="2926080"/>
            <a:ext cx="13719432" cy="8778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Отток клиентов — процент клиентов, прекративших пользоваться услугами банка за период.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Формула: Показатель оттока = (Потерянные клиенты ÷ Клиенты на старте) × 100.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Пример: база 100 000 → ушло 5 000 ⇒ (5 000 / 100 000) × 100 = 5% (ежемесячный отток).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 таком темпе ежегодная потеря ≈ половина базы (интерпретация cohort dynamics).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/>
          <p:nvPr/>
        </p:nvSpPr>
        <p:spPr>
          <a:xfrm>
            <a:off x="1097555" y="1097280"/>
            <a:ext cx="22188895" cy="11521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3"/>
          <p:cNvSpPr/>
          <p:nvPr/>
        </p:nvSpPr>
        <p:spPr>
          <a:xfrm>
            <a:off x="1463406" y="1463040"/>
            <a:ext cx="14634061" cy="1097280"/>
          </a:xfrm>
          <a:prstGeom prst="rect">
            <a:avLst/>
          </a:prstGeom>
          <a:solidFill>
            <a:srgbClr val="F2782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Фаза 1: </a:t>
            </a: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Выявление причин ухода клиентов</a:t>
            </a:r>
            <a:endParaRPr sz="2800"/>
          </a:p>
        </p:txBody>
      </p:sp>
      <p:sp>
        <p:nvSpPr>
          <p:cNvPr id="179" name="Google Shape;179;p33"/>
          <p:cNvSpPr txBox="1"/>
          <p:nvPr/>
        </p:nvSpPr>
        <p:spPr>
          <a:xfrm>
            <a:off x="1829258" y="2926080"/>
            <a:ext cx="13719432" cy="8778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Основные причины: низкое качество обслуживания, несоответствие продукта рынку, неконкурентные цены, выгодные предложения конкурентов.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Сигналы в данных: снижение транзакций, рост обращений в поддержку, негативные отзывы, падение NPS/интеракций.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Аналитика: сегментация (когорты привлечения и поведенческие когорты) помогает выявлять, когда и почему уходит клиент.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/>
          <p:nvPr/>
        </p:nvSpPr>
        <p:spPr>
          <a:xfrm>
            <a:off x="1097555" y="1097280"/>
            <a:ext cx="22188900" cy="1152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4"/>
          <p:cNvSpPr/>
          <p:nvPr/>
        </p:nvSpPr>
        <p:spPr>
          <a:xfrm>
            <a:off x="1463406" y="1463040"/>
            <a:ext cx="14634000" cy="1097400"/>
          </a:xfrm>
          <a:prstGeom prst="rect">
            <a:avLst/>
          </a:prstGeom>
          <a:solidFill>
            <a:srgbClr val="F2782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Фаза 2: разработка и внедрение прогнозной модели</a:t>
            </a:r>
            <a:endParaRPr sz="2800"/>
          </a:p>
        </p:txBody>
      </p:sp>
      <p:sp>
        <p:nvSpPr>
          <p:cNvPr id="187" name="Google Shape;187;p34"/>
          <p:cNvSpPr txBox="1"/>
          <p:nvPr/>
        </p:nvSpPr>
        <p:spPr>
          <a:xfrm>
            <a:off x="1829249" y="2926072"/>
            <a:ext cx="163602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Обучение и валидация: Модель обучается на исторических данных (где мы знаем, кто ушел, а кто нет) и проверяется на тестовой выборке для оценки точности.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Интерпретируемость (Key для понимания причин): Использование методов like SHAP (SHapley Additive exPlanations) для объяснения прогнозов модели. Это отвечает на вопрос "Почему модель считает, что этот клиент уйдет?"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Внедрение: Модель не должна быть "одноразовой". Ее нужно интегрировать в operational systems, чтобы она регулярно (еженедельно/ежедневно) пересчитывала скоры для всех клиентов и передавала их в CRM-систему.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/>
          <p:nvPr/>
        </p:nvSpPr>
        <p:spPr>
          <a:xfrm>
            <a:off x="1097555" y="1097280"/>
            <a:ext cx="22188895" cy="11521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5"/>
          <p:cNvSpPr/>
          <p:nvPr/>
        </p:nvSpPr>
        <p:spPr>
          <a:xfrm>
            <a:off x="1463406" y="1463040"/>
            <a:ext cx="14634061" cy="1097280"/>
          </a:xfrm>
          <a:prstGeom prst="rect">
            <a:avLst/>
          </a:prstGeom>
          <a:solidFill>
            <a:srgbClr val="F2782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Отток и рентабельность (NPV / CLV)</a:t>
            </a:r>
            <a:endParaRPr sz="2800"/>
          </a:p>
        </p:txBody>
      </p:sp>
      <p:sp>
        <p:nvSpPr>
          <p:cNvPr id="195" name="Google Shape;195;p35"/>
          <p:cNvSpPr txBox="1"/>
          <p:nvPr/>
        </p:nvSpPr>
        <p:spPr>
          <a:xfrm>
            <a:off x="1829258" y="2926080"/>
            <a:ext cx="13719432" cy="8778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Удержание дешевле привлечения: привлечение нового клиента стоит 5–25× дороже, чем удержание существующего.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CLV = NPV будущих чистых денежных потоков от клиента. Повышение удержания +5 п.п. → ~+10% CLV (пример из практики).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Поэтому оценивать кампании нужно через призму изменения CLV/NPV, а не только через снижение оттока.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/>
          <p:nvPr/>
        </p:nvSpPr>
        <p:spPr>
          <a:xfrm>
            <a:off x="1097555" y="1097280"/>
            <a:ext cx="22188895" cy="11521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6"/>
          <p:cNvSpPr/>
          <p:nvPr/>
        </p:nvSpPr>
        <p:spPr>
          <a:xfrm>
            <a:off x="1463406" y="1463040"/>
            <a:ext cx="14634061" cy="1097280"/>
          </a:xfrm>
          <a:prstGeom prst="rect">
            <a:avLst/>
          </a:prstGeom>
          <a:solidFill>
            <a:srgbClr val="F2782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Когортный анализ — как смотреть</a:t>
            </a:r>
            <a:endParaRPr sz="2800"/>
          </a:p>
        </p:txBody>
      </p:sp>
      <p:sp>
        <p:nvSpPr>
          <p:cNvPr id="203" name="Google Shape;203;p36"/>
          <p:cNvSpPr txBox="1"/>
          <p:nvPr/>
        </p:nvSpPr>
        <p:spPr>
          <a:xfrm>
            <a:off x="1829258" y="2926080"/>
            <a:ext cx="13719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Когортный анализ группирует клиентов по дате или поведению и показывает удержание по периодам.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Пример: когорта по времени регистрации может демонстрировать пик оттока во 2-3 месяце — сигнал проблем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 адаптацией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Поведенческие когорты показывают, какие модели использования коррелируют с уходом (напр., низкая активность карт).</a:t>
            </a:r>
            <a:endParaRPr sz="2800"/>
          </a:p>
        </p:txBody>
      </p:sp>
      <p:sp>
        <p:nvSpPr>
          <p:cNvPr id="204" name="Google Shape;204;p36"/>
          <p:cNvSpPr txBox="1"/>
          <p:nvPr/>
        </p:nvSpPr>
        <p:spPr>
          <a:xfrm>
            <a:off x="15914539" y="2926080"/>
            <a:ext cx="6951179" cy="8778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hort_heatmap.png" id="205" name="Google Shape;20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14539" y="5486400"/>
            <a:ext cx="6951179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/>
          <p:nvPr/>
        </p:nvSpPr>
        <p:spPr>
          <a:xfrm>
            <a:off x="1097555" y="1097280"/>
            <a:ext cx="22188895" cy="11521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1463406" y="1463040"/>
            <a:ext cx="14634061" cy="1097280"/>
          </a:xfrm>
          <a:prstGeom prst="rect">
            <a:avLst/>
          </a:prstGeom>
          <a:solidFill>
            <a:srgbClr val="F2782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Хранилище данных и аналитика</a:t>
            </a:r>
            <a:endParaRPr sz="2800"/>
          </a:p>
        </p:txBody>
      </p:sp>
      <p:sp>
        <p:nvSpPr>
          <p:cNvPr id="213" name="Google Shape;213;p37"/>
          <p:cNvSpPr txBox="1"/>
          <p:nvPr/>
        </p:nvSpPr>
        <p:spPr>
          <a:xfrm>
            <a:off x="1829258" y="2926080"/>
            <a:ext cx="13719432" cy="8778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Нужен Customer Data Warehouse: интеграция ABS(core), CRM, транзакций, логов онлайн-банкинга, call-center, маркетинга.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Процесс: ETL/ELT → очистка и унификация → Customer 360 → marts (Marketing, Analytics) → BI/ML pipelines.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Требования: единый customer ID, контроль качества данных, соблюдение GDPR и защита персональных данных.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/>
          <p:nvPr/>
        </p:nvSpPr>
        <p:spPr>
          <a:xfrm>
            <a:off x="1097555" y="1097280"/>
            <a:ext cx="22188895" cy="11521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8"/>
          <p:cNvSpPr/>
          <p:nvPr/>
        </p:nvSpPr>
        <p:spPr>
          <a:xfrm>
            <a:off x="1463406" y="1463040"/>
            <a:ext cx="14634061" cy="1097280"/>
          </a:xfrm>
          <a:prstGeom prst="rect">
            <a:avLst/>
          </a:prstGeom>
          <a:solidFill>
            <a:srgbClr val="F2782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 анализа к кампании удержания — шаги</a:t>
            </a:r>
            <a:endParaRPr sz="2800"/>
          </a:p>
        </p:txBody>
      </p:sp>
      <p:sp>
        <p:nvSpPr>
          <p:cNvPr id="221" name="Google Shape;221;p38"/>
          <p:cNvSpPr txBox="1"/>
          <p:nvPr/>
        </p:nvSpPr>
        <p:spPr>
          <a:xfrm>
            <a:off x="1829258" y="2926080"/>
            <a:ext cx="137193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Точное измерение оттока и сегментация (определить 'кто' и 'когда').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Построить модель риска оттока + вычислить CLV по сегментам.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Тестировать персонализированные предложения (A/B), использовать LLM для анализа текстов и генерации сообщений.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4) Оценивать эффект через изменение NPV/CLV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/>
        </p:nvSpPr>
        <p:spPr>
          <a:xfrm>
            <a:off x="7911650" y="1737600"/>
            <a:ext cx="16563000" cy="9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Конкретные методы Сбера, которые влияют на снижение оттока</a:t>
            </a:r>
            <a:endParaRPr b="1"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Улучшение UX / персонализация интерфейса → чтобы клиенту было легче делать привычные операции, не уходил из-за неудобства.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Использование ML-моделей и фич (поведения, транзакций, активности) внутри CRM, чтобы определять клиентов с риском ухода.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Работа с обратной связью (жалобы, отзывы) как с источником информации для улучшения сервиса и удержания тех, кто «на грани».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Фокус на наиболее прибыльных клиентах (high-CLV сегментах) — вложения в этих сегментах дают больше экономического эффекта.</a:t>
            </a:r>
            <a:br>
              <a:rPr lang="en-US" sz="3000">
                <a:solidFill>
                  <a:schemeClr val="dk1"/>
                </a:solidFill>
              </a:rPr>
            </a:br>
            <a:endParaRPr sz="3000">
              <a:solidFill>
                <a:schemeClr val="dk1"/>
              </a:solidFill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>
                <a:solidFill>
                  <a:schemeClr val="dk1"/>
                </a:solidFill>
              </a:rPr>
              <a:t>Оптимизация маркетинга: более точная сегментация, персонализированные коммуникации, снижение спама / нерелевантных предложений.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37600"/>
            <a:ext cx="7606851" cy="48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 txBox="1"/>
          <p:nvPr>
            <p:ph idx="2" type="body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lang="en-US" sz="8400">
                <a:latin typeface="Arial"/>
                <a:ea typeface="Arial"/>
                <a:cs typeface="Arial"/>
                <a:sym typeface="Arial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